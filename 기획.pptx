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57" r:id="rId5"/>
    <p:sldId id="258" r:id="rId6"/>
    <p:sldId id="261" r:id="rId7"/>
    <p:sldId id="263" r:id="rId8"/>
    <p:sldId id="262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AF821A-40A2-374B-79B1-F333256F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C5FA65D-6E58-D68E-86EE-3AB825EA5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626E8D-8697-A737-D4E2-092EDDC62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C4ADDAD-23AA-5BE1-7797-A6F881B4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78651-0113-3187-E179-A05E2F403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982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222BF-D240-FAEF-0E20-4798F903C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FDF974-1342-B5C5-577A-89F94BCB4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18FF27-376D-F9AF-4F90-695F94DF7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7C3E2F-D109-96D3-3009-E5751F397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77F950-9999-67C3-8853-991AFFF3B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607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D7CAB-44B4-D23A-54B2-EED02A29A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B600E1-082B-F20D-2DBF-718CA4909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197250-2858-CD40-0E3E-2FA1526EC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20F436-8D2E-1C07-29E9-57FFBEDEF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95D374-D433-A09E-D573-6294472AE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5598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299E0E-6E2C-52A8-9606-12E0C7F0D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5619A3-68FE-9FB7-F96E-D58CFC6AC3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F866AD-5213-F3A9-8360-9AE541C6D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B74D01-A29F-53A6-8B0A-ED15B4EB2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719706-B934-98A3-EECC-DAB8C34D5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F9358EF-0868-589F-3BC4-4F521C91E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8937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E00A7D-5FE8-8513-D1B1-EA2A8C2F6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4034A5-0BAA-A011-7AEF-83A45FEFB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26B379-4840-F8E2-0035-D836F41D0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297E1F-47A7-D48B-6FB0-7BE75CFAD7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FA1F86-8780-E02D-A0E6-85D9BAD127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E440241-B541-C417-C2A2-2E2294F97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DF71918-A2AD-04A0-F5A4-1E9C51B9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D4FC770-C671-CFD7-2D48-7DA4711C5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2568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165891-E7A5-4F7A-F2F3-72E5BBB2A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DF5A2D2-5BE8-6938-A582-25618E8A5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15B76BD-EE6A-6A59-478F-33552B810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5F145E1-0AEC-1202-B7B9-2527759DF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135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F60096D-4A14-04FD-FB7A-15F1F7296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09D870-D64E-2470-55B6-3D49D4F7D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79401-FED3-7E93-DF5C-3007F2264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5288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7F01AC-81C7-91DB-C70C-84985528F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27E995-2214-2020-612F-90B7DE7CB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DA69A3B-FE87-3D3D-47F8-5EA64220A8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E9EC40F-D5FE-AC49-5DB6-B173B335D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93FAAB-37B6-1A31-F816-F0840E503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97AF4DB-8823-4A99-3875-35227AD52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4730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9CE49-7DD0-9131-4BEC-BE68F326E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606E6B-43A7-844C-ADA0-7218275EF3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C52853-2B96-CE00-071D-07871A6FB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AEB2DB-07C6-1360-1672-B0CF3F8C3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3A9FFE-A835-F8F5-044A-D8B26B99F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2AFC362-AB13-6324-B845-2335F4C4C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99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2AF3C-4EB4-BCAA-41BC-D96F85B1B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E3DF93C-146C-D88F-70C9-36DC38A3BD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D6219B-DB03-7417-CF94-C98E7050D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8D5377-2718-5648-86D6-9D1B15AF3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C16CBE-0BF8-003F-B6E9-7ABEBB746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258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4B178D1-2ACB-DE79-DFBF-FC056438B5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089166F-627F-79C4-63A1-C0E09D30E1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5DFF1A-9E71-A37D-5DB6-F2E29A7D0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D6F4F8-F0A2-786B-0C27-FF63EC9FA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65D723-B758-ABDE-E987-3E17A2FAA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8699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3AC0EE7-1BA0-ADE8-E8BF-33C0A18C2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A052216-4862-AE4C-B951-879BFA91C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61100B-ABD1-3293-45DE-7ACD466C3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B2CD7-1D02-4F95-AC7E-28E06A73A4D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05F0A-2F6B-9D38-B132-6FCC764DF2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CC12E2-451A-91EF-D830-F07DE2629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5033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E5B8B-810A-64FE-9DF7-C6A4E8626D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준규의 공책</a:t>
            </a:r>
            <a:r>
              <a:rPr lang="en-US" altLang="ko-KR"/>
              <a:t>RPG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6F8653F-7D56-A2F5-15A5-508BD9083C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8383" y="3602038"/>
            <a:ext cx="10575234" cy="1655762"/>
          </a:xfrm>
        </p:spPr>
        <p:txBody>
          <a:bodyPr/>
          <a:lstStyle/>
          <a:p>
            <a:r>
              <a:rPr lang="en-US" altLang="ko-KR"/>
              <a:t>~</a:t>
            </a:r>
            <a:r>
              <a:rPr lang="ko-KR" altLang="en-US"/>
              <a:t>취업 안될 거 같아서 창업이라도 해보자는 마인드에서 만든 게임</a:t>
            </a:r>
            <a:r>
              <a:rPr lang="en-US" altLang="ko-KR"/>
              <a:t>~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8458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27E98-ED02-A67A-CFBB-A4DD7C3F1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플레이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A3CD8C-E27B-ECE4-FBE5-0ACE4CC53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멀티플레이</a:t>
            </a:r>
            <a:r>
              <a:rPr lang="en-US" altLang="ko-KR"/>
              <a:t>(‘</a:t>
            </a:r>
            <a:r>
              <a:rPr lang="ko-KR" altLang="en-US"/>
              <a:t>멀티 기능</a:t>
            </a:r>
            <a:r>
              <a:rPr lang="en-US" altLang="ko-KR"/>
              <a:t>’</a:t>
            </a:r>
            <a:r>
              <a:rPr lang="ko-KR" altLang="en-US"/>
              <a:t> 페이지 참고</a:t>
            </a:r>
            <a:r>
              <a:rPr lang="en-US" altLang="ko-KR"/>
              <a:t>)</a:t>
            </a:r>
            <a:r>
              <a:rPr lang="ko-KR" altLang="en-US"/>
              <a:t> 최대 </a:t>
            </a:r>
            <a:r>
              <a:rPr lang="en-US" altLang="ko-KR"/>
              <a:t>4</a:t>
            </a:r>
            <a:r>
              <a:rPr lang="ko-KR" altLang="en-US"/>
              <a:t>인까지 지원할 예정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기본적인 파밍 게임</a:t>
            </a:r>
            <a:endParaRPr lang="en-US" altLang="ko-KR"/>
          </a:p>
          <a:p>
            <a:r>
              <a:rPr lang="ko-KR" altLang="en-US"/>
              <a:t>스킬이나 악세 등을 파밍해서 계속 교체할 수 있도록</a:t>
            </a:r>
            <a:endParaRPr lang="en-US" altLang="ko-KR"/>
          </a:p>
          <a:p>
            <a:r>
              <a:rPr lang="ko-KR" altLang="en-US"/>
              <a:t>제작 시스템을 통해 필요한 아이템을 시간만 있으면 파밍 가능</a:t>
            </a:r>
            <a:endParaRPr lang="en-US" altLang="ko-KR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561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E5CB7C-7890-A5AB-C682-8C4AF91C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멀티 기능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D1EE837-81BD-2539-DEFB-450BAE5DC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싱글 플레이는 그냥 싱글 접속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멀티 플레이 시 메인화면에서 멀티 플레이 버튼으로 </a:t>
            </a:r>
            <a:r>
              <a:rPr lang="en-US" altLang="ko-KR"/>
              <a:t>IP</a:t>
            </a:r>
            <a:r>
              <a:rPr lang="ko-KR" altLang="en-US"/>
              <a:t>를 통해 접속 가능하게 설정</a:t>
            </a:r>
            <a:endParaRPr lang="en-US" altLang="ko-KR"/>
          </a:p>
          <a:p>
            <a:r>
              <a:rPr lang="ko-KR" altLang="en-US"/>
              <a:t>이후</a:t>
            </a:r>
            <a:r>
              <a:rPr lang="en-US" altLang="ko-KR"/>
              <a:t>, </a:t>
            </a:r>
            <a:r>
              <a:rPr lang="ko-KR" altLang="en-US"/>
              <a:t>싱글 플레이 버튼이 멀티 플레이 버튼으로 변경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멀티 플레이 시 연결 확인을 위해 메인 로비에서 접속을 확인할 수 있는 캐릭터나 리스트를 배치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44918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B417B1-27BD-5287-A6BE-C43687B4E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직업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51A14A-E7B0-2B58-5762-56A0EECEC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4808"/>
            <a:ext cx="10515600" cy="4351338"/>
          </a:xfrm>
        </p:spPr>
        <p:txBody>
          <a:bodyPr/>
          <a:lstStyle/>
          <a:p>
            <a:r>
              <a:rPr lang="ko-KR" altLang="en-US"/>
              <a:t>직업은 무기로 </a:t>
            </a:r>
            <a:r>
              <a:rPr lang="en-US" altLang="ko-KR"/>
              <a:t>1</a:t>
            </a:r>
            <a:r>
              <a:rPr lang="ko-KR" altLang="en-US"/>
              <a:t>차적으로 나뉨</a:t>
            </a:r>
            <a:endParaRPr lang="en-US" altLang="ko-KR"/>
          </a:p>
          <a:p>
            <a:r>
              <a:rPr lang="ko-KR" altLang="en-US"/>
              <a:t>그 아래 세부 직군으로 </a:t>
            </a:r>
            <a:r>
              <a:rPr lang="en-US" altLang="ko-KR"/>
              <a:t>2</a:t>
            </a:r>
            <a:r>
              <a:rPr lang="ko-KR" altLang="en-US"/>
              <a:t>가지로 나뉨</a:t>
            </a:r>
            <a:endParaRPr lang="en-US" altLang="ko-KR"/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6B37FC8D-05CA-70E5-9B1E-ACE2F2ED04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5030025"/>
              </p:ext>
            </p:extLst>
          </p:nvPr>
        </p:nvGraphicFramePr>
        <p:xfrm>
          <a:off x="118395" y="2670549"/>
          <a:ext cx="11955209" cy="4145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86616">
                  <a:extLst>
                    <a:ext uri="{9D8B030D-6E8A-4147-A177-3AD203B41FA5}">
                      <a16:colId xmlns:a16="http://schemas.microsoft.com/office/drawing/2014/main" val="4137378731"/>
                    </a:ext>
                  </a:extLst>
                </a:gridCol>
                <a:gridCol w="1724088">
                  <a:extLst>
                    <a:ext uri="{9D8B030D-6E8A-4147-A177-3AD203B41FA5}">
                      <a16:colId xmlns:a16="http://schemas.microsoft.com/office/drawing/2014/main" val="1793365331"/>
                    </a:ext>
                  </a:extLst>
                </a:gridCol>
                <a:gridCol w="2246122">
                  <a:extLst>
                    <a:ext uri="{9D8B030D-6E8A-4147-A177-3AD203B41FA5}">
                      <a16:colId xmlns:a16="http://schemas.microsoft.com/office/drawing/2014/main" val="2543482971"/>
                    </a:ext>
                  </a:extLst>
                </a:gridCol>
                <a:gridCol w="6598383">
                  <a:extLst>
                    <a:ext uri="{9D8B030D-6E8A-4147-A177-3AD203B41FA5}">
                      <a16:colId xmlns:a16="http://schemas.microsoft.com/office/drawing/2014/main" val="2520717715"/>
                    </a:ext>
                  </a:extLst>
                </a:gridCol>
              </a:tblGrid>
              <a:tr h="449605">
                <a:tc rowSpan="8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캐릭터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 b="0"/>
                        <a:t>WeaponBase</a:t>
                      </a:r>
                      <a:endParaRPr lang="ko-KR" altLang="en-US" sz="1400" b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장검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LongswordBase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무사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Knight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밸런스 좋은 검사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8180664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수호자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Guardian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버프를 통한 아군 강화 및 어그로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1936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활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BowBase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장궁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Longbow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공격속도가 느린 대신</a:t>
                      </a:r>
                      <a:r>
                        <a:rPr lang="en-US" altLang="ko-KR" b="0"/>
                        <a:t>, </a:t>
                      </a:r>
                      <a:r>
                        <a:rPr lang="ko-KR" altLang="en-US" b="0"/>
                        <a:t>강력한 한방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918599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단궁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Shortbow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공격속도가 빠르며 화려한 컨트롤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8375692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스태프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MageBase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마법사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Mage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전형적인 마법사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7977424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백마법사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Whitemage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버프 및 치유 효과에 중점을 둔 마법사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8772177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단검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ShortswordBase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암살자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Assassin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이동 및 공격에 중점을 둔 검사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102016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투척수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Thrower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투척물을 통한 공격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87525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5127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1C634-0FF7-6973-D78C-69A37B361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D80C26-BECC-5321-364D-B5C314FA2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기본적인 맵은 마을</a:t>
            </a:r>
            <a:r>
              <a:rPr lang="en-US" altLang="ko-KR"/>
              <a:t>, </a:t>
            </a:r>
            <a:r>
              <a:rPr lang="ko-KR" altLang="en-US"/>
              <a:t>영지</a:t>
            </a:r>
            <a:r>
              <a:rPr lang="en-US" altLang="ko-KR"/>
              <a:t>, </a:t>
            </a:r>
            <a:r>
              <a:rPr lang="ko-KR" altLang="en-US"/>
              <a:t>던전으로 구성</a:t>
            </a:r>
            <a:endParaRPr lang="en-US" altLang="ko-KR"/>
          </a:p>
          <a:p>
            <a:r>
              <a:rPr lang="ko-KR" altLang="en-US"/>
              <a:t>마을 </a:t>
            </a:r>
            <a:r>
              <a:rPr lang="en-US" altLang="ko-KR"/>
              <a:t>: </a:t>
            </a:r>
            <a:r>
              <a:rPr lang="ko-KR" altLang="en-US"/>
              <a:t>아이템을 사고 팔 수 있으며</a:t>
            </a:r>
            <a:r>
              <a:rPr lang="en-US" altLang="ko-KR"/>
              <a:t>, </a:t>
            </a:r>
            <a:r>
              <a:rPr lang="ko-KR" altLang="en-US"/>
              <a:t>전투가 불가능한 지역</a:t>
            </a:r>
            <a:endParaRPr lang="en-US" altLang="ko-KR"/>
          </a:p>
          <a:p>
            <a:r>
              <a:rPr lang="ko-KR" altLang="en-US"/>
              <a:t>영지 </a:t>
            </a:r>
            <a:r>
              <a:rPr lang="en-US" altLang="ko-KR"/>
              <a:t>: </a:t>
            </a:r>
            <a:r>
              <a:rPr lang="ko-KR" altLang="en-US"/>
              <a:t>아이템 보관 및 건설 기능을 통한 꾸미기 영역</a:t>
            </a:r>
            <a:endParaRPr lang="en-US" altLang="ko-KR"/>
          </a:p>
          <a:p>
            <a:r>
              <a:rPr lang="ko-KR" altLang="en-US"/>
              <a:t>던전 </a:t>
            </a:r>
            <a:r>
              <a:rPr lang="en-US" altLang="ko-KR"/>
              <a:t>: </a:t>
            </a:r>
            <a:r>
              <a:rPr lang="ko-KR" altLang="en-US"/>
              <a:t>전투하는 공간</a:t>
            </a:r>
          </a:p>
        </p:txBody>
      </p:sp>
    </p:spTree>
    <p:extLst>
      <p:ext uri="{BB962C8B-B14F-4D97-AF65-F5344CB8AC3E}">
        <p14:creationId xmlns:p14="http://schemas.microsoft.com/office/powerpoint/2010/main" val="1072723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94268-71D3-04E2-ACBD-1EDC90CB6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무기 밸런스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A8D341AF-F096-A924-5EBE-54CA720F56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4537281"/>
              </p:ext>
            </p:extLst>
          </p:nvPr>
        </p:nvGraphicFramePr>
        <p:xfrm>
          <a:off x="80968" y="2292625"/>
          <a:ext cx="10166075" cy="43647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2543482971"/>
                    </a:ext>
                  </a:extLst>
                </a:gridCol>
                <a:gridCol w="2995944">
                  <a:extLst>
                    <a:ext uri="{9D8B030D-6E8A-4147-A177-3AD203B41FA5}">
                      <a16:colId xmlns:a16="http://schemas.microsoft.com/office/drawing/2014/main" val="3169210629"/>
                    </a:ext>
                  </a:extLst>
                </a:gridCol>
                <a:gridCol w="2995944">
                  <a:extLst>
                    <a:ext uri="{9D8B030D-6E8A-4147-A177-3AD203B41FA5}">
                      <a16:colId xmlns:a16="http://schemas.microsoft.com/office/drawing/2014/main" val="2520717715"/>
                    </a:ext>
                  </a:extLst>
                </a:gridCol>
                <a:gridCol w="2995944">
                  <a:extLst>
                    <a:ext uri="{9D8B030D-6E8A-4147-A177-3AD203B41FA5}">
                      <a16:colId xmlns:a16="http://schemas.microsoft.com/office/drawing/2014/main" val="3724777920"/>
                    </a:ext>
                  </a:extLst>
                </a:gridCol>
              </a:tblGrid>
              <a:tr h="476755">
                <a:tc>
                  <a:txBody>
                    <a:bodyPr/>
                    <a:lstStyle/>
                    <a:p>
                      <a:pPr algn="ctr" latinLnBrk="1"/>
                      <a:endParaRPr lang="ko-KR" altLang="en-US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체력 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공격력 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쿨타임 계수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5536201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무사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8180664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수호자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19363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장궁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9185993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단궁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8375692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마법사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7977424"/>
                  </a:ext>
                </a:extLst>
              </a:tr>
              <a:tr h="5507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백마법사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8772177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암살자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1020163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투척수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875252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4088D34-CF70-B630-0CA7-D60E27451899}"/>
              </a:ext>
            </a:extLst>
          </p:cNvPr>
          <p:cNvSpPr txBox="1"/>
          <p:nvPr/>
        </p:nvSpPr>
        <p:spPr>
          <a:xfrm>
            <a:off x="528610" y="1437658"/>
            <a:ext cx="111347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무기 밸런스는 상대값으로 나타낸 값이며</a:t>
            </a:r>
            <a:r>
              <a:rPr lang="en-US" altLang="ko-KR"/>
              <a:t>, </a:t>
            </a:r>
            <a:r>
              <a:rPr lang="ko-KR" altLang="en-US"/>
              <a:t>실체험 후 정확한 수치로 변경할 예정</a:t>
            </a:r>
            <a:r>
              <a:rPr lang="en-US" altLang="ko-KR"/>
              <a:t>(</a:t>
            </a:r>
            <a:r>
              <a:rPr lang="ko-KR" altLang="en-US"/>
              <a:t>높을수록 이득이 되는 값</a:t>
            </a:r>
            <a:r>
              <a:rPr lang="en-US" altLang="ko-KR"/>
              <a:t>)</a:t>
            </a:r>
          </a:p>
          <a:p>
            <a:r>
              <a:rPr lang="ko-KR" altLang="en-US"/>
              <a:t>곱연산을 통해 최종 값에 영향을 미침</a:t>
            </a:r>
          </a:p>
        </p:txBody>
      </p:sp>
    </p:spTree>
    <p:extLst>
      <p:ext uri="{BB962C8B-B14F-4D97-AF65-F5344CB8AC3E}">
        <p14:creationId xmlns:p14="http://schemas.microsoft.com/office/powerpoint/2010/main" val="3642879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D3AD3-3838-D7F1-7F3A-F307DC603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스킬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69C8AD-F93B-BD97-EF71-5681E3D4DC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191" y="1289917"/>
            <a:ext cx="5999922" cy="5202958"/>
          </a:xfrm>
        </p:spPr>
        <p:txBody>
          <a:bodyPr>
            <a:normAutofit fontScale="85000" lnSpcReduction="10000"/>
          </a:bodyPr>
          <a:lstStyle/>
          <a:p>
            <a:r>
              <a:rPr lang="ko-KR" altLang="en-US"/>
              <a:t>스킬은 기본적으로 파밍 혹은 제작으로 얻을 수 있음</a:t>
            </a:r>
            <a:endParaRPr lang="en-US" altLang="ko-KR"/>
          </a:p>
          <a:p>
            <a:r>
              <a:rPr lang="ko-KR" altLang="en-US"/>
              <a:t>스킬은 평타스킬과 일반스킬로 분류</a:t>
            </a:r>
            <a:endParaRPr lang="en-US" altLang="ko-KR"/>
          </a:p>
          <a:p>
            <a:r>
              <a:rPr lang="ko-KR" altLang="en-US"/>
              <a:t>일정 레벨마다 스킬 칸이 한개씩 해방</a:t>
            </a:r>
            <a:r>
              <a:rPr lang="en-US" altLang="ko-KR"/>
              <a:t>(</a:t>
            </a:r>
            <a:r>
              <a:rPr lang="ko-KR" altLang="en-US"/>
              <a:t>처음에는 평타 제외 </a:t>
            </a:r>
            <a:r>
              <a:rPr lang="en-US" altLang="ko-KR"/>
              <a:t>1</a:t>
            </a:r>
            <a:r>
              <a:rPr lang="ko-KR" altLang="en-US"/>
              <a:t>개만 착용 가능 </a:t>
            </a:r>
            <a:r>
              <a:rPr lang="en-US" altLang="ko-KR"/>
              <a:t>/ </a:t>
            </a:r>
            <a:r>
              <a:rPr lang="ko-KR" altLang="en-US"/>
              <a:t>평타 제외 최대 </a:t>
            </a:r>
            <a:r>
              <a:rPr lang="en-US" altLang="ko-KR"/>
              <a:t>3</a:t>
            </a:r>
            <a:r>
              <a:rPr lang="ko-KR" altLang="en-US"/>
              <a:t>칸</a:t>
            </a:r>
            <a:r>
              <a:rPr lang="en-US" altLang="ko-KR"/>
              <a:t>)</a:t>
            </a:r>
          </a:p>
          <a:p>
            <a:r>
              <a:rPr lang="ko-KR" altLang="en-US"/>
              <a:t>스킬은 최대 </a:t>
            </a:r>
            <a:r>
              <a:rPr lang="en-US" altLang="ko-KR"/>
              <a:t>4</a:t>
            </a:r>
            <a:r>
              <a:rPr lang="ko-KR" altLang="en-US"/>
              <a:t>개 존재하며 </a:t>
            </a:r>
            <a:r>
              <a:rPr lang="en-US" altLang="ko-KR"/>
              <a:t>UI</a:t>
            </a:r>
            <a:r>
              <a:rPr lang="ko-KR" altLang="en-US"/>
              <a:t>를 통해 장착 혹은 교체를 할 수 있음</a:t>
            </a:r>
            <a:endParaRPr lang="en-US" altLang="ko-KR"/>
          </a:p>
          <a:p>
            <a:r>
              <a:rPr lang="ko-KR" altLang="en-US"/>
              <a:t>캐릭터의 레벨이 오를때마다 스킬 칸을 강화할 수 있음</a:t>
            </a:r>
            <a:r>
              <a:rPr lang="en-US" altLang="ko-KR"/>
              <a:t>(</a:t>
            </a:r>
            <a:r>
              <a:rPr lang="ko-KR" altLang="en-US"/>
              <a:t>최대치 존재</a:t>
            </a:r>
            <a:r>
              <a:rPr lang="en-US" altLang="ko-KR"/>
              <a:t>)</a:t>
            </a:r>
          </a:p>
          <a:p>
            <a:r>
              <a:rPr lang="ko-KR" altLang="en-US"/>
              <a:t>평타스킬은 기본적으로 </a:t>
            </a:r>
            <a:r>
              <a:rPr lang="en-US" altLang="ko-KR"/>
              <a:t>1</a:t>
            </a:r>
            <a:r>
              <a:rPr lang="ko-KR" altLang="en-US"/>
              <a:t>초의 쿨타임</a:t>
            </a:r>
            <a:r>
              <a:rPr lang="en-US" altLang="ko-KR"/>
              <a:t>, </a:t>
            </a:r>
            <a:r>
              <a:rPr lang="ko-KR" altLang="en-US"/>
              <a:t>나머지 스킬들은 </a:t>
            </a:r>
            <a:r>
              <a:rPr lang="en-US" altLang="ko-KR"/>
              <a:t>10</a:t>
            </a:r>
            <a:r>
              <a:rPr lang="ko-KR" altLang="en-US"/>
              <a:t>초의 쿨타임을 가짐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※1</a:t>
            </a:r>
            <a:r>
              <a:rPr lang="ko-KR" altLang="en-US"/>
              <a:t>인 개발이라 애니메이션 제작에 어려움이 있어</a:t>
            </a:r>
            <a:r>
              <a:rPr lang="en-US" altLang="ko-KR"/>
              <a:t>, </a:t>
            </a:r>
            <a:r>
              <a:rPr lang="ko-KR" altLang="en-US"/>
              <a:t>스킬 구현은 하드코딩으로 대체</a:t>
            </a:r>
            <a:endParaRPr lang="en-US" altLang="ko-KR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FBE9D86-E276-7DF5-0463-DD79A7550FFA}"/>
              </a:ext>
            </a:extLst>
          </p:cNvPr>
          <p:cNvSpPr/>
          <p:nvPr/>
        </p:nvSpPr>
        <p:spPr>
          <a:xfrm>
            <a:off x="7076660" y="496741"/>
            <a:ext cx="4823792" cy="58645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62882D6-7B29-954E-116E-20319079D7CC}"/>
              </a:ext>
            </a:extLst>
          </p:cNvPr>
          <p:cNvSpPr/>
          <p:nvPr/>
        </p:nvSpPr>
        <p:spPr>
          <a:xfrm>
            <a:off x="7502387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S1</a:t>
            </a: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CF2E769-D845-6D52-744B-31BDFAEFA19D}"/>
              </a:ext>
            </a:extLst>
          </p:cNvPr>
          <p:cNvSpPr/>
          <p:nvPr/>
        </p:nvSpPr>
        <p:spPr>
          <a:xfrm>
            <a:off x="9163879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S2</a:t>
            </a:r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2FD3027-ED17-69C1-984E-FD600058C03E}"/>
              </a:ext>
            </a:extLst>
          </p:cNvPr>
          <p:cNvSpPr/>
          <p:nvPr/>
        </p:nvSpPr>
        <p:spPr>
          <a:xfrm>
            <a:off x="9998765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S3</a:t>
            </a:r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FAB001-69E4-7CB2-BF44-84E678C1C60B}"/>
              </a:ext>
            </a:extLst>
          </p:cNvPr>
          <p:cNvSpPr/>
          <p:nvPr/>
        </p:nvSpPr>
        <p:spPr>
          <a:xfrm>
            <a:off x="10807146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S4</a:t>
            </a:r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D6DDB50-44DB-5273-8CEE-84ADC54CF25C}"/>
              </a:ext>
            </a:extLst>
          </p:cNvPr>
          <p:cNvSpPr/>
          <p:nvPr/>
        </p:nvSpPr>
        <p:spPr>
          <a:xfrm>
            <a:off x="7502386" y="2108347"/>
            <a:ext cx="3851413" cy="37358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스킬 창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10999D8-FB5B-7AC8-3BC0-81896CCB99F9}"/>
              </a:ext>
            </a:extLst>
          </p:cNvPr>
          <p:cNvSpPr/>
          <p:nvPr/>
        </p:nvSpPr>
        <p:spPr>
          <a:xfrm>
            <a:off x="7502386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▲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E92EDAD-6834-9AE5-055F-FF7343400BD9}"/>
              </a:ext>
            </a:extLst>
          </p:cNvPr>
          <p:cNvSpPr/>
          <p:nvPr/>
        </p:nvSpPr>
        <p:spPr>
          <a:xfrm>
            <a:off x="9129918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▲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21C4D75-53D9-565C-D8A2-4E499CD97F0F}"/>
              </a:ext>
            </a:extLst>
          </p:cNvPr>
          <p:cNvSpPr/>
          <p:nvPr/>
        </p:nvSpPr>
        <p:spPr>
          <a:xfrm>
            <a:off x="9998765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▲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B6976F1-2611-8C2A-A7D3-570B841E1FC4}"/>
              </a:ext>
            </a:extLst>
          </p:cNvPr>
          <p:cNvSpPr/>
          <p:nvPr/>
        </p:nvSpPr>
        <p:spPr>
          <a:xfrm>
            <a:off x="10807146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/>
              <a:t>해제</a:t>
            </a:r>
          </a:p>
        </p:txBody>
      </p:sp>
    </p:spTree>
    <p:extLst>
      <p:ext uri="{BB962C8B-B14F-4D97-AF65-F5344CB8AC3E}">
        <p14:creationId xmlns:p14="http://schemas.microsoft.com/office/powerpoint/2010/main" val="143518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E40376-F9CD-8822-32D6-95D3DCF96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레벨</a:t>
            </a:r>
            <a:r>
              <a:rPr lang="en-US" altLang="ko-KR"/>
              <a:t>(</a:t>
            </a:r>
            <a:r>
              <a:rPr lang="ko-KR" altLang="en-US"/>
              <a:t>성장</a:t>
            </a:r>
            <a:r>
              <a:rPr lang="en-US" altLang="ko-KR"/>
              <a:t>)</a:t>
            </a:r>
            <a:r>
              <a:rPr lang="ko-KR" altLang="en-US"/>
              <a:t> 시스템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E79E72-99A0-04ED-8E35-598518102F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ko-KR" altLang="en-US"/>
              <a:t>캐릭터가 레벨이 오를 때 마다 스텟 증가 및 스킬 강화 기회를 얻음</a:t>
            </a:r>
            <a:endParaRPr lang="en-US" altLang="ko-KR"/>
          </a:p>
          <a:p>
            <a:r>
              <a:rPr lang="en-US" altLang="ko-KR"/>
              <a:t>[</a:t>
            </a:r>
            <a:r>
              <a:rPr lang="ko-KR" altLang="en-US"/>
              <a:t>체력</a:t>
            </a:r>
            <a:r>
              <a:rPr lang="en-US" altLang="ko-KR"/>
              <a:t>, </a:t>
            </a:r>
            <a:r>
              <a:rPr lang="ko-KR" altLang="en-US"/>
              <a:t>공격력</a:t>
            </a:r>
            <a:r>
              <a:rPr lang="en-US" altLang="ko-KR"/>
              <a:t>, </a:t>
            </a:r>
            <a:r>
              <a:rPr lang="ko-KR" altLang="en-US"/>
              <a:t>공격속도</a:t>
            </a:r>
            <a:r>
              <a:rPr lang="en-US" altLang="ko-KR"/>
              <a:t>/</a:t>
            </a:r>
            <a:r>
              <a:rPr lang="ko-KR" altLang="en-US"/>
              <a:t>쿨타임</a:t>
            </a:r>
            <a:r>
              <a:rPr lang="en-US" altLang="ko-KR"/>
              <a:t>]</a:t>
            </a:r>
            <a:r>
              <a:rPr lang="ko-KR" altLang="en-US"/>
              <a:t>은 증가</a:t>
            </a:r>
            <a:r>
              <a:rPr lang="en-US" altLang="ko-KR"/>
              <a:t>(</a:t>
            </a:r>
            <a:r>
              <a:rPr lang="ko-KR" altLang="en-US"/>
              <a:t>직업과 무관하게 증가</a:t>
            </a:r>
            <a:r>
              <a:rPr lang="en-US" altLang="ko-KR"/>
              <a:t>)</a:t>
            </a:r>
          </a:p>
          <a:p>
            <a:r>
              <a:rPr lang="ko-KR" altLang="en-US"/>
              <a:t>스킬 강화는 스킬 장착 칸을 강화하는 기능</a:t>
            </a:r>
            <a:r>
              <a:rPr lang="en-US" altLang="ko-KR"/>
              <a:t>(</a:t>
            </a:r>
            <a:r>
              <a:rPr lang="ko-KR" altLang="en-US"/>
              <a:t>최대치 존재</a:t>
            </a:r>
            <a:r>
              <a:rPr lang="en-US" altLang="ko-KR"/>
              <a:t>)</a:t>
            </a:r>
          </a:p>
          <a:p>
            <a:r>
              <a:rPr lang="en-US" altLang="ko-KR"/>
              <a:t>[</a:t>
            </a:r>
            <a:r>
              <a:rPr lang="ko-KR" altLang="en-US"/>
              <a:t>체력</a:t>
            </a:r>
            <a:r>
              <a:rPr lang="en-US" altLang="ko-KR"/>
              <a:t>, </a:t>
            </a:r>
            <a:r>
              <a:rPr lang="ko-KR" altLang="en-US"/>
              <a:t>공격력</a:t>
            </a:r>
            <a:r>
              <a:rPr lang="en-US" altLang="ko-KR"/>
              <a:t>]</a:t>
            </a:r>
            <a:r>
              <a:rPr lang="ko-KR" altLang="en-US"/>
              <a:t>은 최대치가 없지만</a:t>
            </a:r>
            <a:r>
              <a:rPr lang="en-US" altLang="ko-KR"/>
              <a:t>, [</a:t>
            </a:r>
            <a:r>
              <a:rPr lang="ko-KR" altLang="en-US"/>
              <a:t>쿨타임</a:t>
            </a:r>
            <a:r>
              <a:rPr lang="en-US" altLang="ko-KR"/>
              <a:t>]</a:t>
            </a:r>
            <a:r>
              <a:rPr lang="ko-KR" altLang="en-US"/>
              <a:t>은 </a:t>
            </a:r>
            <a:r>
              <a:rPr lang="en-US" altLang="ko-KR"/>
              <a:t>50</a:t>
            </a:r>
            <a:r>
              <a:rPr lang="ko-KR" altLang="en-US"/>
              <a:t>이 최대</a:t>
            </a:r>
            <a:r>
              <a:rPr lang="en-US" altLang="ko-KR"/>
              <a:t>(</a:t>
            </a:r>
            <a:r>
              <a:rPr lang="ko-KR" altLang="en-US"/>
              <a:t>퍼센트</a:t>
            </a:r>
            <a:r>
              <a:rPr lang="en-US" altLang="ko-KR"/>
              <a:t>)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F4A7BB83-15A6-7BE1-5F59-82263C47D0A9}"/>
              </a:ext>
            </a:extLst>
          </p:cNvPr>
          <p:cNvGrpSpPr/>
          <p:nvPr/>
        </p:nvGrpSpPr>
        <p:grpSpPr>
          <a:xfrm>
            <a:off x="9099611" y="19099"/>
            <a:ext cx="3010429" cy="1671589"/>
            <a:chOff x="6725027" y="3705103"/>
            <a:chExt cx="5340626" cy="3060389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C2278D3-BFDB-9664-F4FA-C4E98031F1FB}"/>
                </a:ext>
              </a:extLst>
            </p:cNvPr>
            <p:cNvSpPr/>
            <p:nvPr/>
          </p:nvSpPr>
          <p:spPr>
            <a:xfrm>
              <a:off x="6725027" y="3705103"/>
              <a:ext cx="5340626" cy="306038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F0351CC-F18F-B1F0-9DE3-ACC50D4DECC2}"/>
                </a:ext>
              </a:extLst>
            </p:cNvPr>
            <p:cNvSpPr/>
            <p:nvPr/>
          </p:nvSpPr>
          <p:spPr>
            <a:xfrm>
              <a:off x="6877427" y="3857503"/>
              <a:ext cx="1530627" cy="137736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웃는 얼굴 6">
              <a:extLst>
                <a:ext uri="{FF2B5EF4-FFF2-40B4-BE49-F238E27FC236}">
                  <a16:creationId xmlns:a16="http://schemas.microsoft.com/office/drawing/2014/main" id="{FEB7EF0A-249C-D9B4-FB25-9A84337790E4}"/>
                </a:ext>
              </a:extLst>
            </p:cNvPr>
            <p:cNvSpPr/>
            <p:nvPr/>
          </p:nvSpPr>
          <p:spPr>
            <a:xfrm>
              <a:off x="7026514" y="3929958"/>
              <a:ext cx="1232452" cy="1232452"/>
            </a:xfrm>
            <a:prstGeom prst="smileyFac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9FA8B3E9-941F-401C-1CBF-0E6A57904BAF}"/>
                </a:ext>
              </a:extLst>
            </p:cNvPr>
            <p:cNvSpPr/>
            <p:nvPr/>
          </p:nvSpPr>
          <p:spPr>
            <a:xfrm>
              <a:off x="6927122" y="5297347"/>
              <a:ext cx="1431235" cy="32424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직업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95961AF-3FD2-BE01-998A-5B80DF7E5638}"/>
                </a:ext>
              </a:extLst>
            </p:cNvPr>
            <p:cNvSpPr/>
            <p:nvPr/>
          </p:nvSpPr>
          <p:spPr>
            <a:xfrm>
              <a:off x="6927122" y="5756531"/>
              <a:ext cx="1431235" cy="78961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스텟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342BA6F1-BC92-F7A4-E35F-699E0F94A76D}"/>
                </a:ext>
              </a:extLst>
            </p:cNvPr>
            <p:cNvSpPr/>
            <p:nvPr/>
          </p:nvSpPr>
          <p:spPr>
            <a:xfrm>
              <a:off x="8618432" y="3857503"/>
              <a:ext cx="3286539" cy="237213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인벤토리</a:t>
              </a: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BA8901A3-104F-B82D-4FB9-54F4D3CC33C9}"/>
                </a:ext>
              </a:extLst>
            </p:cNvPr>
            <p:cNvSpPr/>
            <p:nvPr/>
          </p:nvSpPr>
          <p:spPr>
            <a:xfrm>
              <a:off x="8618432" y="6334796"/>
              <a:ext cx="3286539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퀵슬롯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2610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0260BF-4728-E58B-0041-F65AE9F12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장비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FE1059-5DE0-7D5D-8B4E-AD990E8BF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무기는 강화만 가능하며</a:t>
            </a:r>
            <a:r>
              <a:rPr lang="en-US" altLang="ko-KR"/>
              <a:t>, [</a:t>
            </a:r>
            <a:r>
              <a:rPr lang="ko-KR" altLang="en-US"/>
              <a:t>공격력</a:t>
            </a:r>
            <a:r>
              <a:rPr lang="en-US" altLang="ko-KR"/>
              <a:t>, </a:t>
            </a:r>
            <a:r>
              <a:rPr lang="ko-KR" altLang="en-US"/>
              <a:t>공격속도</a:t>
            </a:r>
            <a:r>
              <a:rPr lang="en-US" altLang="ko-KR"/>
              <a:t>/</a:t>
            </a:r>
            <a:r>
              <a:rPr lang="ko-KR" altLang="en-US"/>
              <a:t>쿨타임</a:t>
            </a:r>
            <a:r>
              <a:rPr lang="en-US" altLang="ko-KR"/>
              <a:t>]</a:t>
            </a:r>
            <a:r>
              <a:rPr lang="ko-KR" altLang="en-US"/>
              <a:t>가 증가</a:t>
            </a:r>
            <a:endParaRPr lang="en-US" altLang="ko-KR"/>
          </a:p>
          <a:p>
            <a:r>
              <a:rPr lang="ko-KR" altLang="en-US"/>
              <a:t>액세서리는 강화가 불가능하며</a:t>
            </a:r>
            <a:r>
              <a:rPr lang="en-US" altLang="ko-KR"/>
              <a:t>, </a:t>
            </a:r>
            <a:r>
              <a:rPr lang="ko-KR" altLang="en-US"/>
              <a:t>파밍으로만 얻거나 일부 제작 가능함</a:t>
            </a:r>
            <a:r>
              <a:rPr lang="en-US" altLang="ko-KR"/>
              <a:t>. [</a:t>
            </a:r>
            <a:r>
              <a:rPr lang="ko-KR" altLang="en-US"/>
              <a:t>체력</a:t>
            </a:r>
            <a:r>
              <a:rPr lang="en-US" altLang="ko-KR"/>
              <a:t>, </a:t>
            </a:r>
            <a:r>
              <a:rPr lang="ko-KR" altLang="en-US"/>
              <a:t>공격력</a:t>
            </a:r>
            <a:r>
              <a:rPr lang="en-US" altLang="ko-KR"/>
              <a:t>, </a:t>
            </a:r>
            <a:r>
              <a:rPr lang="ko-KR" altLang="en-US"/>
              <a:t>공격속도</a:t>
            </a:r>
            <a:r>
              <a:rPr lang="en-US" altLang="ko-KR"/>
              <a:t>/</a:t>
            </a:r>
            <a:r>
              <a:rPr lang="ko-KR" altLang="en-US"/>
              <a:t>쿨타임</a:t>
            </a:r>
            <a:r>
              <a:rPr lang="en-US" altLang="ko-KR"/>
              <a:t>]</a:t>
            </a:r>
            <a:r>
              <a:rPr lang="ko-KR" altLang="en-US"/>
              <a:t>들을 올려주기도 하며</a:t>
            </a:r>
            <a:r>
              <a:rPr lang="en-US" altLang="ko-KR"/>
              <a:t>, </a:t>
            </a:r>
            <a:r>
              <a:rPr lang="ko-KR" altLang="en-US"/>
              <a:t>특수 효과를 지닌 효과들도 존재</a:t>
            </a:r>
          </a:p>
        </p:txBody>
      </p:sp>
    </p:spTree>
    <p:extLst>
      <p:ext uri="{BB962C8B-B14F-4D97-AF65-F5344CB8AC3E}">
        <p14:creationId xmlns:p14="http://schemas.microsoft.com/office/powerpoint/2010/main" val="7130317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</TotalTime>
  <Words>471</Words>
  <Application>Microsoft Office PowerPoint</Application>
  <PresentationFormat>와이드스크린</PresentationFormat>
  <Paragraphs>124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준규의 공책RPG</vt:lpstr>
      <vt:lpstr>플레이 방식</vt:lpstr>
      <vt:lpstr>멀티 기능</vt:lpstr>
      <vt:lpstr>직업</vt:lpstr>
      <vt:lpstr>맵</vt:lpstr>
      <vt:lpstr>무기 밸런스</vt:lpstr>
      <vt:lpstr>스킬</vt:lpstr>
      <vt:lpstr>레벨(성장) 시스템</vt:lpstr>
      <vt:lpstr>장비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0208 zyx</dc:creator>
  <cp:lastModifiedBy>0208 zyx</cp:lastModifiedBy>
  <cp:revision>30</cp:revision>
  <dcterms:created xsi:type="dcterms:W3CDTF">2026-01-12T17:05:02Z</dcterms:created>
  <dcterms:modified xsi:type="dcterms:W3CDTF">2026-01-21T21:55:22Z</dcterms:modified>
</cp:coreProperties>
</file>